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381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381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400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254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1">
                  <a:lumOff val="13543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solidFill>
            <a:srgbClr val="014D80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009D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61D836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027002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E3E5E8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-613784"/>
              <a:lumOff val="1275"/>
            </a:schemeClr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4">
                  <a:hueOff val="-613784"/>
                  <a:lumOff val="1275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E3E5E8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E3E5E8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FF53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0C0C0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C0C0C0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C0C0C0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solidFill>
            <a:srgbClr val="98195F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6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0C0C0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solidFill>
            <a:srgbClr val="650E48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400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381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262727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381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42424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6498" y="11839048"/>
            <a:ext cx="21971003" cy="636979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6500" y="7196865"/>
            <a:ext cx="21971000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xfrm>
            <a:off x="12007748" y="13080999"/>
            <a:ext cx="368504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Black and white photo of light and shadows on a building"/>
          <p:cNvSpPr/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44688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 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3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2403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4" name="Black and white photo of shadows cast on a concrete structure"/>
          <p:cNvSpPr/>
          <p:nvPr>
            <p:ph type="pic" idx="21"/>
          </p:nvPr>
        </p:nvSpPr>
        <p:spPr>
          <a:xfrm>
            <a:off x="9270652" y="1263650"/>
            <a:ext cx="16757661" cy="1118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Title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1" name="Slide Subtitle"/>
          <p:cNvSpPr txBox="1"/>
          <p:nvPr>
            <p:ph type="body" sz="quarter" idx="21" hasCustomPrompt="1"/>
          </p:nvPr>
        </p:nvSpPr>
        <p:spPr>
          <a:xfrm>
            <a:off x="1206500" y="2245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3" name="Close-up black and white photo of intricate building architecture"/>
          <p:cNvSpPr/>
          <p:nvPr>
            <p:ph type="pic" idx="22"/>
          </p:nvPr>
        </p:nvSpPr>
        <p:spPr>
          <a:xfrm>
            <a:off x="12192000" y="-1341967"/>
            <a:ext cx="10922000" cy="1639993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Title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2" name="Slide Subtitle"/>
          <p:cNvSpPr txBox="1"/>
          <p:nvPr>
            <p:ph type="body" sz="quarter" idx="21" hasCustomPrompt="1"/>
          </p:nvPr>
        </p:nvSpPr>
        <p:spPr>
          <a:xfrm>
            <a:off x="1206500" y="2245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73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Title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2" name="Slide Subtitle"/>
          <p:cNvSpPr txBox="1"/>
          <p:nvPr>
            <p:ph type="body" sz="quarter" idx="21" hasCustomPrompt="1"/>
          </p:nvPr>
        </p:nvSpPr>
        <p:spPr>
          <a:xfrm>
            <a:off x="1206500" y="2245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3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1206500" y="952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06500" y="952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27" name="Body Level One…"/>
          <p:cNvSpPr txBox="1"/>
          <p:nvPr>
            <p:ph type="body" idx="1" hasCustomPrompt="1"/>
          </p:nvPr>
        </p:nvSpPr>
        <p:spPr>
          <a:xfrm>
            <a:off x="1206500" y="935258"/>
            <a:ext cx="21971000" cy="7359063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2480825" y="10675453"/>
            <a:ext cx="201492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 anchor="ctr"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Low-angle black and white photo of a futuristic apartment building under a cloudy sky"/>
          <p:cNvSpPr/>
          <p:nvPr>
            <p:ph type="pic" idx="21"/>
          </p:nvPr>
        </p:nvSpPr>
        <p:spPr>
          <a:xfrm>
            <a:off x="-120802" y="1270000"/>
            <a:ext cx="16840201" cy="11226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Black and white photo of the outside of a modern office building "/>
          <p:cNvSpPr/>
          <p:nvPr>
            <p:ph type="pic" sz="quarter" idx="22"/>
          </p:nvPr>
        </p:nvSpPr>
        <p:spPr>
          <a:xfrm>
            <a:off x="15443200" y="1270000"/>
            <a:ext cx="8102600" cy="54102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Black and white photo of lattice-like, modern architecture on a building"/>
          <p:cNvSpPr/>
          <p:nvPr>
            <p:ph type="pic" sz="half" idx="23"/>
          </p:nvPr>
        </p:nvSpPr>
        <p:spPr>
          <a:xfrm>
            <a:off x="15811500" y="4876800"/>
            <a:ext cx="7366000" cy="9829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Low-angle black and white photo of a modern building"/>
          <p:cNvSpPr/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952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]"/>
          <p:cNvSpPr txBox="1"/>
          <p:nvPr>
            <p:ph type="body" idx="21"/>
          </p:nvPr>
        </p:nvSpPr>
        <p:spPr>
          <a:xfrm>
            <a:off x="1206498" y="10941054"/>
            <a:ext cx="21971003" cy="63697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defTabSz="330200">
              <a:defRPr sz="1440"/>
            </a:pPr>
          </a:p>
          <a:p>
            <a:pPr defTabSz="330200">
              <a:defRPr sz="1440"/>
            </a:pPr>
          </a:p>
          <a:p>
            <a:pPr defTabSz="330200">
              <a:defRPr sz="1440"/>
            </a:pPr>
            <a:r>
              <a:t>]</a:t>
            </a:r>
          </a:p>
          <a:p>
            <a:pPr defTabSz="330200">
              <a:defRPr sz="1440"/>
            </a:pPr>
          </a:p>
          <a:p>
            <a:pPr defTabSz="330200">
              <a:defRPr sz="1440"/>
            </a:pPr>
          </a:p>
        </p:txBody>
      </p:sp>
      <p:sp>
        <p:nvSpPr>
          <p:cNvPr id="172" name="Intelli Support AI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Intelli Support AI</a:t>
            </a:r>
          </a:p>
        </p:txBody>
      </p:sp>
      <p:sp>
        <p:nvSpPr>
          <p:cNvPr id="173" name="Gils Peter…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3600"/>
            </a:pPr>
            <a:r>
              <a:t>Gils Peter</a:t>
            </a:r>
          </a:p>
          <a:p>
            <a:pPr>
              <a:defRPr sz="3600"/>
            </a:pPr>
            <a:r>
              <a:t>Yashwin Mathrashree</a:t>
            </a:r>
          </a:p>
          <a:p>
            <a:pPr>
              <a:defRPr sz="3600"/>
            </a:pPr>
            <a:r>
              <a:t>Dhivesh Akilan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Technologies and Libraries Used…"/>
          <p:cNvSpPr txBox="1"/>
          <p:nvPr>
            <p:ph type="body" idx="1"/>
          </p:nvPr>
        </p:nvSpPr>
        <p:spPr>
          <a:xfrm>
            <a:off x="1331521" y="651997"/>
            <a:ext cx="21720958" cy="12412006"/>
          </a:xfrm>
          <a:prstGeom prst="rect">
            <a:avLst/>
          </a:prstGeom>
        </p:spPr>
        <p:txBody>
          <a:bodyPr/>
          <a:lstStyle/>
          <a:p>
            <a:pPr algn="l" defTabSz="914400">
              <a:lnSpc>
                <a:spcPct val="100000"/>
              </a:lnSpc>
              <a:tabLst>
                <a:tab pos="292100" algn="l"/>
                <a:tab pos="596900" algn="l"/>
                <a:tab pos="901700" algn="l"/>
                <a:tab pos="1206500" algn="l"/>
                <a:tab pos="1511300" algn="l"/>
                <a:tab pos="1803400" algn="l"/>
                <a:tab pos="2108200" algn="l"/>
                <a:tab pos="2413000" algn="l"/>
                <a:tab pos="2717800" algn="l"/>
                <a:tab pos="3022600" algn="l"/>
                <a:tab pos="3314700" algn="l"/>
                <a:tab pos="3619500" algn="l"/>
              </a:tabLst>
              <a:defRPr b="1" spc="0" sz="3400">
                <a:latin typeface="+mn-lt"/>
                <a:ea typeface="+mn-ea"/>
                <a:cs typeface="+mn-cs"/>
                <a:sym typeface="Helvetica Neue"/>
              </a:defRPr>
            </a:pPr>
            <a:r>
              <a:t>Technologies and Libraries Used</a:t>
            </a:r>
          </a:p>
          <a:p>
            <a:pPr algn="l" defTabSz="914400">
              <a:lnSpc>
                <a:spcPct val="100000"/>
              </a:lnSpc>
              <a:tabLst>
                <a:tab pos="292100" algn="l"/>
                <a:tab pos="596900" algn="l"/>
                <a:tab pos="901700" algn="l"/>
                <a:tab pos="1206500" algn="l"/>
                <a:tab pos="1511300" algn="l"/>
                <a:tab pos="1803400" algn="l"/>
                <a:tab pos="2108200" algn="l"/>
                <a:tab pos="2413000" algn="l"/>
                <a:tab pos="2717800" algn="l"/>
                <a:tab pos="3022600" algn="l"/>
                <a:tab pos="3314700" algn="l"/>
                <a:tab pos="3619500" algn="l"/>
              </a:tabLst>
              <a:defRPr spc="0" sz="3400">
                <a:latin typeface="+mn-lt"/>
                <a:ea typeface="+mn-ea"/>
                <a:cs typeface="+mn-cs"/>
                <a:sym typeface="Helvetica Neue"/>
              </a:defRPr>
            </a:pPr>
          </a:p>
          <a:p>
            <a:pPr algn="l" defTabSz="914400">
              <a:lnSpc>
                <a:spcPct val="100000"/>
              </a:lnSpc>
              <a:tabLst>
                <a:tab pos="292100" algn="l"/>
                <a:tab pos="596900" algn="l"/>
                <a:tab pos="901700" algn="l"/>
                <a:tab pos="1206500" algn="l"/>
                <a:tab pos="1511300" algn="l"/>
                <a:tab pos="1803400" algn="l"/>
                <a:tab pos="2108200" algn="l"/>
                <a:tab pos="2413000" algn="l"/>
                <a:tab pos="2717800" algn="l"/>
                <a:tab pos="3022600" algn="l"/>
                <a:tab pos="3314700" algn="l"/>
                <a:tab pos="3619500" algn="l"/>
              </a:tabLst>
              <a:defRPr spc="0" sz="3400">
                <a:latin typeface="+mn-lt"/>
                <a:ea typeface="+mn-ea"/>
                <a:cs typeface="+mn-cs"/>
                <a:sym typeface="Helvetica Neue"/>
              </a:defRPr>
            </a:pPr>
            <a:r>
              <a:t>1. Flask:</a:t>
            </a:r>
          </a:p>
          <a:p>
            <a:pPr algn="l" defTabSz="914400">
              <a:lnSpc>
                <a:spcPct val="100000"/>
              </a:lnSpc>
              <a:tabLst>
                <a:tab pos="292100" algn="l"/>
                <a:tab pos="596900" algn="l"/>
                <a:tab pos="901700" algn="l"/>
                <a:tab pos="1206500" algn="l"/>
                <a:tab pos="1511300" algn="l"/>
                <a:tab pos="1803400" algn="l"/>
                <a:tab pos="2108200" algn="l"/>
                <a:tab pos="2413000" algn="l"/>
                <a:tab pos="2717800" algn="l"/>
                <a:tab pos="3022600" algn="l"/>
                <a:tab pos="3314700" algn="l"/>
                <a:tab pos="3619500" algn="l"/>
              </a:tabLst>
              <a:defRPr spc="0" sz="3400">
                <a:latin typeface="+mn-lt"/>
                <a:ea typeface="+mn-ea"/>
                <a:cs typeface="+mn-cs"/>
                <a:sym typeface="Helvetica Neue"/>
              </a:defRPr>
            </a:pPr>
            <a:r>
              <a:t>- Flask is a lightweight Python web framework used to create web applications.</a:t>
            </a:r>
          </a:p>
          <a:p>
            <a:pPr algn="l" defTabSz="914400">
              <a:lnSpc>
                <a:spcPct val="100000"/>
              </a:lnSpc>
              <a:tabLst>
                <a:tab pos="292100" algn="l"/>
                <a:tab pos="596900" algn="l"/>
                <a:tab pos="901700" algn="l"/>
                <a:tab pos="1206500" algn="l"/>
                <a:tab pos="1511300" algn="l"/>
                <a:tab pos="1803400" algn="l"/>
                <a:tab pos="2108200" algn="l"/>
                <a:tab pos="2413000" algn="l"/>
                <a:tab pos="2717800" algn="l"/>
                <a:tab pos="3022600" algn="l"/>
                <a:tab pos="3314700" algn="l"/>
                <a:tab pos="3619500" algn="l"/>
              </a:tabLst>
              <a:defRPr spc="0" sz="3400">
                <a:latin typeface="+mn-lt"/>
                <a:ea typeface="+mn-ea"/>
                <a:cs typeface="+mn-cs"/>
                <a:sym typeface="Helvetica Neue"/>
              </a:defRPr>
            </a:pPr>
            <a:r>
              <a:t>- Provides tools for routing HTTP requests, rendering templates, handling forms, and JSON responses.</a:t>
            </a:r>
          </a:p>
          <a:p>
            <a:pPr algn="l" defTabSz="914400">
              <a:lnSpc>
                <a:spcPct val="100000"/>
              </a:lnSpc>
              <a:tabLst>
                <a:tab pos="292100" algn="l"/>
                <a:tab pos="596900" algn="l"/>
                <a:tab pos="901700" algn="l"/>
                <a:tab pos="1206500" algn="l"/>
                <a:tab pos="1511300" algn="l"/>
                <a:tab pos="1803400" algn="l"/>
                <a:tab pos="2108200" algn="l"/>
                <a:tab pos="2413000" algn="l"/>
                <a:tab pos="2717800" algn="l"/>
                <a:tab pos="3022600" algn="l"/>
                <a:tab pos="3314700" algn="l"/>
                <a:tab pos="3619500" algn="l"/>
              </a:tabLst>
              <a:defRPr spc="0" sz="3400">
                <a:latin typeface="+mn-lt"/>
                <a:ea typeface="+mn-ea"/>
                <a:cs typeface="+mn-cs"/>
                <a:sym typeface="Helvetica Neue"/>
              </a:defRPr>
            </a:pPr>
          </a:p>
          <a:p>
            <a:pPr algn="l" defTabSz="914400">
              <a:lnSpc>
                <a:spcPct val="100000"/>
              </a:lnSpc>
              <a:tabLst>
                <a:tab pos="292100" algn="l"/>
                <a:tab pos="596900" algn="l"/>
                <a:tab pos="901700" algn="l"/>
                <a:tab pos="1206500" algn="l"/>
                <a:tab pos="1511300" algn="l"/>
                <a:tab pos="1803400" algn="l"/>
                <a:tab pos="2108200" algn="l"/>
                <a:tab pos="2413000" algn="l"/>
                <a:tab pos="2717800" algn="l"/>
                <a:tab pos="3022600" algn="l"/>
                <a:tab pos="3314700" algn="l"/>
                <a:tab pos="3619500" algn="l"/>
              </a:tabLst>
              <a:defRPr spc="0" sz="3400">
                <a:latin typeface="+mn-lt"/>
                <a:ea typeface="+mn-ea"/>
                <a:cs typeface="+mn-cs"/>
                <a:sym typeface="Helvetica Neue"/>
              </a:defRPr>
            </a:pPr>
            <a:r>
              <a:t>2. Requests:</a:t>
            </a:r>
          </a:p>
          <a:p>
            <a:pPr algn="l" defTabSz="914400">
              <a:lnSpc>
                <a:spcPct val="100000"/>
              </a:lnSpc>
              <a:tabLst>
                <a:tab pos="292100" algn="l"/>
                <a:tab pos="596900" algn="l"/>
                <a:tab pos="901700" algn="l"/>
                <a:tab pos="1206500" algn="l"/>
                <a:tab pos="1511300" algn="l"/>
                <a:tab pos="1803400" algn="l"/>
                <a:tab pos="2108200" algn="l"/>
                <a:tab pos="2413000" algn="l"/>
                <a:tab pos="2717800" algn="l"/>
                <a:tab pos="3022600" algn="l"/>
                <a:tab pos="3314700" algn="l"/>
                <a:tab pos="3619500" algn="l"/>
              </a:tabLst>
              <a:defRPr spc="0" sz="3400">
                <a:latin typeface="+mn-lt"/>
                <a:ea typeface="+mn-ea"/>
                <a:cs typeface="+mn-cs"/>
                <a:sym typeface="Helvetica Neue"/>
              </a:defRPr>
            </a:pPr>
            <a:r>
              <a:t>- Used for making HTTP requests to APIs.</a:t>
            </a:r>
          </a:p>
          <a:p>
            <a:pPr algn="l" defTabSz="914400">
              <a:lnSpc>
                <a:spcPct val="100000"/>
              </a:lnSpc>
              <a:tabLst>
                <a:tab pos="292100" algn="l"/>
                <a:tab pos="596900" algn="l"/>
                <a:tab pos="901700" algn="l"/>
                <a:tab pos="1206500" algn="l"/>
                <a:tab pos="1511300" algn="l"/>
                <a:tab pos="1803400" algn="l"/>
                <a:tab pos="2108200" algn="l"/>
                <a:tab pos="2413000" algn="l"/>
                <a:tab pos="2717800" algn="l"/>
                <a:tab pos="3022600" algn="l"/>
                <a:tab pos="3314700" algn="l"/>
                <a:tab pos="3619500" algn="l"/>
              </a:tabLst>
              <a:defRPr spc="0" sz="3400">
                <a:latin typeface="+mn-lt"/>
                <a:ea typeface="+mn-ea"/>
                <a:cs typeface="+mn-cs"/>
                <a:sym typeface="Helvetica Neue"/>
              </a:defRPr>
            </a:pPr>
            <a:r>
              <a:t>- In this application, `requests.get()` is used to retrieve user roles and GOPs from API endpoints.</a:t>
            </a:r>
          </a:p>
          <a:p>
            <a:pPr algn="l" defTabSz="914400">
              <a:lnSpc>
                <a:spcPct val="100000"/>
              </a:lnSpc>
              <a:tabLst>
                <a:tab pos="292100" algn="l"/>
                <a:tab pos="596900" algn="l"/>
                <a:tab pos="901700" algn="l"/>
                <a:tab pos="1206500" algn="l"/>
                <a:tab pos="1511300" algn="l"/>
                <a:tab pos="1803400" algn="l"/>
                <a:tab pos="2108200" algn="l"/>
                <a:tab pos="2413000" algn="l"/>
                <a:tab pos="2717800" algn="l"/>
                <a:tab pos="3022600" algn="l"/>
                <a:tab pos="3314700" algn="l"/>
                <a:tab pos="3619500" algn="l"/>
              </a:tabLst>
              <a:defRPr spc="0" sz="3400">
                <a:latin typeface="+mn-lt"/>
                <a:ea typeface="+mn-ea"/>
                <a:cs typeface="+mn-cs"/>
                <a:sym typeface="Helvetica Neue"/>
              </a:defRPr>
            </a:pPr>
          </a:p>
          <a:p>
            <a:pPr algn="l" defTabSz="914400">
              <a:lnSpc>
                <a:spcPct val="100000"/>
              </a:lnSpc>
              <a:tabLst>
                <a:tab pos="292100" algn="l"/>
                <a:tab pos="596900" algn="l"/>
                <a:tab pos="901700" algn="l"/>
                <a:tab pos="1206500" algn="l"/>
                <a:tab pos="1511300" algn="l"/>
                <a:tab pos="1803400" algn="l"/>
                <a:tab pos="2108200" algn="l"/>
                <a:tab pos="2413000" algn="l"/>
                <a:tab pos="2717800" algn="l"/>
                <a:tab pos="3022600" algn="l"/>
                <a:tab pos="3314700" algn="l"/>
                <a:tab pos="3619500" algn="l"/>
              </a:tabLst>
              <a:defRPr spc="0" sz="3400">
                <a:latin typeface="+mn-lt"/>
                <a:ea typeface="+mn-ea"/>
                <a:cs typeface="+mn-cs"/>
                <a:sym typeface="Helvetica Neue"/>
              </a:defRPr>
            </a:pPr>
            <a:r>
              <a:t>3. smtplib:</a:t>
            </a:r>
          </a:p>
          <a:p>
            <a:pPr algn="l" defTabSz="914400">
              <a:lnSpc>
                <a:spcPct val="100000"/>
              </a:lnSpc>
              <a:tabLst>
                <a:tab pos="292100" algn="l"/>
                <a:tab pos="596900" algn="l"/>
                <a:tab pos="901700" algn="l"/>
                <a:tab pos="1206500" algn="l"/>
                <a:tab pos="1511300" algn="l"/>
                <a:tab pos="1803400" algn="l"/>
                <a:tab pos="2108200" algn="l"/>
                <a:tab pos="2413000" algn="l"/>
                <a:tab pos="2717800" algn="l"/>
                <a:tab pos="3022600" algn="l"/>
                <a:tab pos="3314700" algn="l"/>
                <a:tab pos="3619500" algn="l"/>
              </a:tabLst>
              <a:defRPr spc="0" sz="3400">
                <a:latin typeface="+mn-lt"/>
                <a:ea typeface="+mn-ea"/>
                <a:cs typeface="+mn-cs"/>
                <a:sym typeface="Helvetica Neue"/>
              </a:defRPr>
            </a:pPr>
            <a:r>
              <a:t>- Python’s built-in library for sending emails.</a:t>
            </a:r>
          </a:p>
          <a:p>
            <a:pPr algn="l" defTabSz="914400">
              <a:lnSpc>
                <a:spcPct val="100000"/>
              </a:lnSpc>
              <a:tabLst>
                <a:tab pos="292100" algn="l"/>
                <a:tab pos="596900" algn="l"/>
                <a:tab pos="901700" algn="l"/>
                <a:tab pos="1206500" algn="l"/>
                <a:tab pos="1511300" algn="l"/>
                <a:tab pos="1803400" algn="l"/>
                <a:tab pos="2108200" algn="l"/>
                <a:tab pos="2413000" algn="l"/>
                <a:tab pos="2717800" algn="l"/>
                <a:tab pos="3022600" algn="l"/>
                <a:tab pos="3314700" algn="l"/>
                <a:tab pos="3619500" algn="l"/>
              </a:tabLst>
              <a:defRPr spc="0" sz="3400">
                <a:latin typeface="+mn-lt"/>
                <a:ea typeface="+mn-ea"/>
                <a:cs typeface="+mn-cs"/>
                <a:sym typeface="Helvetica Neue"/>
              </a:defRPr>
            </a:pPr>
            <a:r>
              <a:t>- Used here to connect to Gmail’s SMTP server and send approval request emails.</a:t>
            </a:r>
          </a:p>
          <a:p>
            <a:pPr algn="l" defTabSz="914400">
              <a:lnSpc>
                <a:spcPct val="100000"/>
              </a:lnSpc>
              <a:tabLst>
                <a:tab pos="292100" algn="l"/>
                <a:tab pos="596900" algn="l"/>
                <a:tab pos="901700" algn="l"/>
                <a:tab pos="1206500" algn="l"/>
                <a:tab pos="1511300" algn="l"/>
                <a:tab pos="1803400" algn="l"/>
                <a:tab pos="2108200" algn="l"/>
                <a:tab pos="2413000" algn="l"/>
                <a:tab pos="2717800" algn="l"/>
                <a:tab pos="3022600" algn="l"/>
                <a:tab pos="3314700" algn="l"/>
                <a:tab pos="3619500" algn="l"/>
              </a:tabLst>
              <a:defRPr spc="0" sz="3400">
                <a:latin typeface="+mn-lt"/>
                <a:ea typeface="+mn-ea"/>
                <a:cs typeface="+mn-cs"/>
                <a:sym typeface="Helvetica Neue"/>
              </a:defRPr>
            </a:pPr>
          </a:p>
          <a:p>
            <a:pPr algn="l" defTabSz="914400">
              <a:lnSpc>
                <a:spcPct val="100000"/>
              </a:lnSpc>
              <a:tabLst>
                <a:tab pos="292100" algn="l"/>
                <a:tab pos="596900" algn="l"/>
                <a:tab pos="901700" algn="l"/>
                <a:tab pos="1206500" algn="l"/>
                <a:tab pos="1511300" algn="l"/>
                <a:tab pos="1803400" algn="l"/>
                <a:tab pos="2108200" algn="l"/>
                <a:tab pos="2413000" algn="l"/>
                <a:tab pos="2717800" algn="l"/>
                <a:tab pos="3022600" algn="l"/>
                <a:tab pos="3314700" algn="l"/>
                <a:tab pos="3619500" algn="l"/>
              </a:tabLst>
              <a:defRPr spc="0" sz="3400">
                <a:latin typeface="+mn-lt"/>
                <a:ea typeface="+mn-ea"/>
                <a:cs typeface="+mn-cs"/>
                <a:sym typeface="Helvetica Neue"/>
              </a:defRPr>
            </a:pPr>
            <a:r>
              <a:t>4. OpenAI API (for chat completion and image processing):</a:t>
            </a:r>
          </a:p>
          <a:p>
            <a:pPr algn="l" defTabSz="914400">
              <a:lnSpc>
                <a:spcPct val="100000"/>
              </a:lnSpc>
              <a:tabLst>
                <a:tab pos="292100" algn="l"/>
                <a:tab pos="596900" algn="l"/>
                <a:tab pos="901700" algn="l"/>
                <a:tab pos="1206500" algn="l"/>
                <a:tab pos="1511300" algn="l"/>
                <a:tab pos="1803400" algn="l"/>
                <a:tab pos="2108200" algn="l"/>
                <a:tab pos="2413000" algn="l"/>
                <a:tab pos="2717800" algn="l"/>
                <a:tab pos="3022600" algn="l"/>
                <a:tab pos="3314700" algn="l"/>
                <a:tab pos="3619500" algn="l"/>
              </a:tabLst>
              <a:defRPr spc="0" sz="3400">
                <a:latin typeface="+mn-lt"/>
                <a:ea typeface="+mn-ea"/>
                <a:cs typeface="+mn-cs"/>
                <a:sym typeface="Helvetica Neue"/>
              </a:defRPr>
            </a:pPr>
            <a:r>
              <a:t>- The OpenAI API provides access to models for text generation and image processing.</a:t>
            </a:r>
          </a:p>
          <a:p>
            <a:pPr algn="l" defTabSz="914400">
              <a:lnSpc>
                <a:spcPct val="100000"/>
              </a:lnSpc>
              <a:tabLst>
                <a:tab pos="292100" algn="l"/>
                <a:tab pos="596900" algn="l"/>
                <a:tab pos="901700" algn="l"/>
                <a:tab pos="1206500" algn="l"/>
                <a:tab pos="1511300" algn="l"/>
                <a:tab pos="1803400" algn="l"/>
                <a:tab pos="2108200" algn="l"/>
                <a:tab pos="2413000" algn="l"/>
                <a:tab pos="2717800" algn="l"/>
                <a:tab pos="3022600" algn="l"/>
                <a:tab pos="3314700" algn="l"/>
                <a:tab pos="3619500" algn="l"/>
              </a:tabLst>
              <a:defRPr spc="0" sz="3400">
                <a:latin typeface="+mn-lt"/>
                <a:ea typeface="+mn-ea"/>
                <a:cs typeface="+mn-cs"/>
                <a:sym typeface="Helvetica Neue"/>
              </a:defRPr>
            </a:pPr>
            <a:r>
              <a:t>- Used here to generate SQL queries, extract text from images, and interpret text queries.</a:t>
            </a:r>
          </a:p>
          <a:p>
            <a:pPr algn="l" defTabSz="388620">
              <a:lnSpc>
                <a:spcPct val="100000"/>
              </a:lnSpc>
              <a:spcBef>
                <a:spcPts val="1100"/>
              </a:spcBef>
              <a:defRPr spc="0" sz="3400">
                <a:latin typeface="+mn-lt"/>
                <a:ea typeface="+mn-ea"/>
                <a:cs typeface="+mn-cs"/>
                <a:sym typeface="Helvetica Neue"/>
              </a:defRPr>
            </a:pPr>
          </a:p>
          <a:p>
            <a:pPr algn="l" defTabSz="388620">
              <a:lnSpc>
                <a:spcPct val="100000"/>
              </a:lnSpc>
              <a:spcBef>
                <a:spcPts val="1100"/>
              </a:spcBef>
              <a:defRPr spc="0" sz="3400">
                <a:latin typeface="+mn-lt"/>
                <a:ea typeface="+mn-ea"/>
                <a:cs typeface="+mn-cs"/>
                <a:sym typeface="Helvetica Neue"/>
              </a:defRPr>
            </a:pPr>
            <a:r>
              <a:t>5. LangChain</a:t>
            </a:r>
          </a:p>
          <a:p>
            <a:pPr algn="l" defTabSz="388620">
              <a:lnSpc>
                <a:spcPct val="100000"/>
              </a:lnSpc>
              <a:spcBef>
                <a:spcPts val="1100"/>
              </a:spcBef>
              <a:defRPr spc="0" sz="3400">
                <a:latin typeface="+mn-lt"/>
                <a:ea typeface="+mn-ea"/>
                <a:cs typeface="+mn-cs"/>
                <a:sym typeface="Helvetica Neue"/>
              </a:defRPr>
            </a:pPr>
            <a:r>
              <a:t>- LangChain helps the app find and retrieve relevant information from data, like matching queries to roles or portfolios or gops.</a:t>
            </a:r>
          </a:p>
          <a:p>
            <a:pPr algn="l" defTabSz="388620">
              <a:lnSpc>
                <a:spcPct val="100000"/>
              </a:lnSpc>
              <a:defRPr spc="0" sz="3400">
                <a:latin typeface="+mn-lt"/>
                <a:ea typeface="+mn-ea"/>
                <a:cs typeface="+mn-cs"/>
                <a:sym typeface="Helvetica Neue"/>
              </a:defRPr>
            </a:pPr>
            <a:r>
              <a:t>- This makes the app smarter by providing accurate and useful details to create better responses, which is a key part of the Retrieval-Augmented Generation (RAG) process.</a:t>
            </a:r>
          </a:p>
        </p:txBody>
      </p:sp>
      <p:sp>
        <p:nvSpPr>
          <p:cNvPr id="176" name="Slide Number"/>
          <p:cNvSpPr txBox="1"/>
          <p:nvPr>
            <p:ph type="sldNum" sz="quarter" idx="4294967295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Text Response"/>
          <p:cNvSpPr/>
          <p:nvPr/>
        </p:nvSpPr>
        <p:spPr>
          <a:xfrm>
            <a:off x="1299376" y="1812556"/>
            <a:ext cx="3673647" cy="777021"/>
          </a:xfrm>
          <a:prstGeom prst="roundRect">
            <a:avLst>
              <a:gd name="adj" fmla="val 24517"/>
            </a:avLst>
          </a:prstGeom>
          <a:solidFill>
            <a:schemeClr val="accent3"/>
          </a:solidFill>
          <a:ln w="12700">
            <a:miter lim="400000"/>
          </a:ln>
          <a:effectLst>
            <a:reflection blurRad="0" stA="50000" stPos="0" endA="0" endPos="40000" dist="0" dir="5400000" fadeDir="5400000" sx="100000" sy="-100000" kx="0" ky="0" algn="bl" rotWithShape="0"/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Text Response</a:t>
            </a:r>
          </a:p>
        </p:txBody>
      </p:sp>
      <p:sp>
        <p:nvSpPr>
          <p:cNvPr id="179" name="Image Response"/>
          <p:cNvSpPr/>
          <p:nvPr/>
        </p:nvSpPr>
        <p:spPr>
          <a:xfrm>
            <a:off x="1299376" y="5357529"/>
            <a:ext cx="3673647" cy="777021"/>
          </a:xfrm>
          <a:prstGeom prst="roundRect">
            <a:avLst>
              <a:gd name="adj" fmla="val 24517"/>
            </a:avLst>
          </a:prstGeom>
          <a:solidFill>
            <a:schemeClr val="accent3"/>
          </a:solidFill>
          <a:ln w="12700">
            <a:miter lim="400000"/>
          </a:ln>
          <a:effectLst>
            <a:reflection blurRad="0" stA="50000" stPos="0" endA="0" endPos="40000" dist="0" dir="5400000" fadeDir="5400000" sx="100000" sy="-100000" kx="0" ky="0" algn="bl" rotWithShape="0"/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Image Response</a:t>
            </a:r>
          </a:p>
        </p:txBody>
      </p:sp>
      <p:sp>
        <p:nvSpPr>
          <p:cNvPr id="180" name="If Keyword like SQL/query/Extract"/>
          <p:cNvSpPr/>
          <p:nvPr/>
        </p:nvSpPr>
        <p:spPr>
          <a:xfrm>
            <a:off x="8637675" y="406622"/>
            <a:ext cx="3995375" cy="35662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lnTo>
                  <a:pt x="10800" y="216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solidFill>
            <a:schemeClr val="accent5"/>
          </a:solidFill>
          <a:ln w="12700">
            <a:miter lim="400000"/>
          </a:ln>
          <a:effectLst>
            <a:reflection blurRad="0" stA="50000" stPos="0" endA="0" endPos="40000" dist="0" dir="5400000" fadeDir="5400000" sx="100000" sy="-100000" kx="0" ky="0" algn="bl" rotWithShape="0"/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If Keyword like SQL/query/Extract</a:t>
            </a:r>
          </a:p>
        </p:txBody>
      </p:sp>
      <p:sp>
        <p:nvSpPr>
          <p:cNvPr id="181" name="Line"/>
          <p:cNvSpPr/>
          <p:nvPr/>
        </p:nvSpPr>
        <p:spPr>
          <a:xfrm>
            <a:off x="12681431" y="2189748"/>
            <a:ext cx="1037587" cy="1"/>
          </a:xfrm>
          <a:prstGeom prst="line">
            <a:avLst/>
          </a:prstGeom>
          <a:ln w="25400">
            <a:solidFill>
              <a:srgbClr val="FFFFFF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82" name="/sql"/>
          <p:cNvSpPr/>
          <p:nvPr/>
        </p:nvSpPr>
        <p:spPr>
          <a:xfrm>
            <a:off x="13767399" y="1801238"/>
            <a:ext cx="1267303" cy="777021"/>
          </a:xfrm>
          <a:prstGeom prst="roundRect">
            <a:avLst>
              <a:gd name="adj" fmla="val 24517"/>
            </a:avLst>
          </a:prstGeom>
          <a:solidFill>
            <a:schemeClr val="accent6"/>
          </a:solidFill>
          <a:ln w="12700">
            <a:miter lim="400000"/>
          </a:ln>
          <a:effectLst>
            <a:reflection blurRad="0" stA="50000" stPos="0" endA="0" endPos="40000" dist="0" dir="5400000" fadeDir="5400000" sx="100000" sy="-100000" kx="0" ky="0" algn="bl" rotWithShape="0"/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/sql</a:t>
            </a:r>
          </a:p>
        </p:txBody>
      </p:sp>
      <p:sp>
        <p:nvSpPr>
          <p:cNvPr id="183" name="Line"/>
          <p:cNvSpPr/>
          <p:nvPr/>
        </p:nvSpPr>
        <p:spPr>
          <a:xfrm>
            <a:off x="15013713" y="2201066"/>
            <a:ext cx="674709" cy="1"/>
          </a:xfrm>
          <a:prstGeom prst="line">
            <a:avLst/>
          </a:prstGeom>
          <a:ln w="25400">
            <a:solidFill>
              <a:srgbClr val="FFFFFF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84" name="With help of Schema information OpenAI LLM will generate the SQL Queries"/>
          <p:cNvSpPr/>
          <p:nvPr/>
        </p:nvSpPr>
        <p:spPr>
          <a:xfrm>
            <a:off x="15672449" y="1287156"/>
            <a:ext cx="8333971" cy="1679153"/>
          </a:xfrm>
          <a:prstGeom prst="roundRect">
            <a:avLst>
              <a:gd name="adj" fmla="val 27675"/>
            </a:avLst>
          </a:prstGeom>
          <a:solidFill>
            <a:schemeClr val="accent1">
              <a:lumOff val="13575"/>
            </a:schemeClr>
          </a:solidFill>
          <a:ln w="12700">
            <a:miter lim="400000"/>
          </a:ln>
          <a:effectLst>
            <a:reflection blurRad="0" stA="50000" stPos="0" endA="0" endPos="40000" dist="0" dir="5400000" fadeDir="5400000" sx="100000" sy="-100000" kx="0" ky="0" algn="bl" rotWithShape="0"/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With help of Schema information OpenAI LLM will generate the SQL Queries</a:t>
            </a:r>
          </a:p>
        </p:txBody>
      </p:sp>
      <p:sp>
        <p:nvSpPr>
          <p:cNvPr id="185" name="Line"/>
          <p:cNvSpPr/>
          <p:nvPr/>
        </p:nvSpPr>
        <p:spPr>
          <a:xfrm>
            <a:off x="10635362" y="4005546"/>
            <a:ext cx="1" cy="1278559"/>
          </a:xfrm>
          <a:prstGeom prst="line">
            <a:avLst/>
          </a:prstGeom>
          <a:ln w="25400">
            <a:solidFill>
              <a:srgbClr val="FFFFFF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86" name="No"/>
          <p:cNvSpPr txBox="1"/>
          <p:nvPr/>
        </p:nvSpPr>
        <p:spPr>
          <a:xfrm>
            <a:off x="9694665" y="4256315"/>
            <a:ext cx="1037587" cy="777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>
            <a:lvl1pPr algn="ctr">
              <a:lnSpc>
                <a:spcPct val="80000"/>
              </a:lnSpc>
              <a:spcBef>
                <a:spcPts val="0"/>
              </a:spcBef>
              <a:defRPr spc="-59" sz="30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No</a:t>
            </a:r>
          </a:p>
        </p:txBody>
      </p:sp>
      <p:sp>
        <p:nvSpPr>
          <p:cNvPr id="187" name="/text"/>
          <p:cNvSpPr/>
          <p:nvPr/>
        </p:nvSpPr>
        <p:spPr>
          <a:xfrm>
            <a:off x="9912398" y="5386998"/>
            <a:ext cx="1445930" cy="777021"/>
          </a:xfrm>
          <a:prstGeom prst="roundRect">
            <a:avLst>
              <a:gd name="adj" fmla="val 24517"/>
            </a:avLst>
          </a:prstGeom>
          <a:solidFill>
            <a:schemeClr val="accent6"/>
          </a:solidFill>
          <a:ln w="12700">
            <a:miter lim="400000"/>
          </a:ln>
          <a:effectLst>
            <a:reflection blurRad="0" stA="50000" stPos="0" endA="0" endPos="40000" dist="0" dir="5400000" fadeDir="5400000" sx="100000" sy="-100000" kx="0" ky="0" algn="bl" rotWithShape="0"/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/text</a:t>
            </a:r>
          </a:p>
        </p:txBody>
      </p:sp>
      <p:sp>
        <p:nvSpPr>
          <p:cNvPr id="188" name="Line"/>
          <p:cNvSpPr/>
          <p:nvPr/>
        </p:nvSpPr>
        <p:spPr>
          <a:xfrm flipV="1">
            <a:off x="22884246" y="7222237"/>
            <a:ext cx="1" cy="5431115"/>
          </a:xfrm>
          <a:prstGeom prst="line">
            <a:avLst/>
          </a:prstGeom>
          <a:ln w="25400">
            <a:solidFill>
              <a:srgbClr val="FFFFFF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89" name="Using Langchain it will respond to user query"/>
          <p:cNvSpPr/>
          <p:nvPr/>
        </p:nvSpPr>
        <p:spPr>
          <a:xfrm>
            <a:off x="12894809" y="5199331"/>
            <a:ext cx="9323528" cy="1152355"/>
          </a:xfrm>
          <a:prstGeom prst="roundRect">
            <a:avLst>
              <a:gd name="adj" fmla="val 40327"/>
            </a:avLst>
          </a:prstGeom>
          <a:solidFill>
            <a:schemeClr val="accent1">
              <a:lumOff val="13575"/>
            </a:schemeClr>
          </a:solidFill>
          <a:ln w="12700">
            <a:miter lim="400000"/>
          </a:ln>
          <a:effectLst>
            <a:reflection blurRad="0" stA="50000" stPos="0" endA="0" endPos="40000" dist="0" dir="5400000" fadeDir="5400000" sx="100000" sy="-100000" kx="0" ky="0" algn="bl" rotWithShape="0"/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Using Langchain it will respond to user query</a:t>
            </a:r>
          </a:p>
        </p:txBody>
      </p:sp>
      <p:sp>
        <p:nvSpPr>
          <p:cNvPr id="190" name="Line"/>
          <p:cNvSpPr/>
          <p:nvPr/>
        </p:nvSpPr>
        <p:spPr>
          <a:xfrm>
            <a:off x="18906858" y="6372894"/>
            <a:ext cx="1" cy="1278559"/>
          </a:xfrm>
          <a:prstGeom prst="line">
            <a:avLst/>
          </a:prstGeom>
          <a:ln w="25400">
            <a:solidFill>
              <a:srgbClr val="FFFFFF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91" name="If Keyword like role/gop/portfolio"/>
          <p:cNvSpPr/>
          <p:nvPr/>
        </p:nvSpPr>
        <p:spPr>
          <a:xfrm>
            <a:off x="16461004" y="7676730"/>
            <a:ext cx="4891710" cy="30105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lnTo>
                  <a:pt x="10800" y="216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solidFill>
            <a:schemeClr val="accent5"/>
          </a:solidFill>
          <a:ln w="12700">
            <a:miter lim="400000"/>
          </a:ln>
          <a:effectLst>
            <a:reflection blurRad="0" stA="50000" stPos="0" endA="0" endPos="40000" dist="0" dir="5400000" fadeDir="5400000" sx="100000" sy="-100000" kx="0" ky="0" algn="bl" rotWithShape="0"/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If Keyword like role/gop/portfolio</a:t>
            </a:r>
          </a:p>
        </p:txBody>
      </p:sp>
      <p:sp>
        <p:nvSpPr>
          <p:cNvPr id="192" name="Line"/>
          <p:cNvSpPr/>
          <p:nvPr/>
        </p:nvSpPr>
        <p:spPr>
          <a:xfrm>
            <a:off x="5023160" y="2201066"/>
            <a:ext cx="3673647" cy="1"/>
          </a:xfrm>
          <a:prstGeom prst="line">
            <a:avLst/>
          </a:prstGeom>
          <a:ln w="25400">
            <a:solidFill>
              <a:srgbClr val="FFFFFF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93" name="Yes"/>
          <p:cNvSpPr txBox="1"/>
          <p:nvPr/>
        </p:nvSpPr>
        <p:spPr>
          <a:xfrm>
            <a:off x="15491260" y="8530992"/>
            <a:ext cx="1037587" cy="777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>
            <a:lvl1pPr algn="ctr">
              <a:lnSpc>
                <a:spcPct val="80000"/>
              </a:lnSpc>
              <a:spcBef>
                <a:spcPts val="0"/>
              </a:spcBef>
              <a:defRPr spc="-59" sz="30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Yes</a:t>
            </a:r>
          </a:p>
        </p:txBody>
      </p:sp>
      <p:sp>
        <p:nvSpPr>
          <p:cNvPr id="194" name="/text_to_role"/>
          <p:cNvSpPr/>
          <p:nvPr/>
        </p:nvSpPr>
        <p:spPr>
          <a:xfrm>
            <a:off x="6349395" y="8793512"/>
            <a:ext cx="2847427" cy="777021"/>
          </a:xfrm>
          <a:prstGeom prst="roundRect">
            <a:avLst>
              <a:gd name="adj" fmla="val 19621"/>
            </a:avLst>
          </a:prstGeom>
          <a:solidFill>
            <a:schemeClr val="accent6"/>
          </a:solidFill>
          <a:ln w="12700">
            <a:miter lim="400000"/>
          </a:ln>
          <a:effectLst>
            <a:reflection blurRad="0" stA="50000" stPos="0" endA="0" endPos="40000" dist="0" dir="5400000" fadeDir="5400000" sx="100000" sy="-100000" kx="0" ky="0" algn="bl" rotWithShape="0"/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/text_to_role</a:t>
            </a:r>
          </a:p>
        </p:txBody>
      </p:sp>
      <p:sp>
        <p:nvSpPr>
          <p:cNvPr id="195" name="/send_email"/>
          <p:cNvSpPr/>
          <p:nvPr/>
        </p:nvSpPr>
        <p:spPr>
          <a:xfrm>
            <a:off x="7083098" y="12204094"/>
            <a:ext cx="2847428" cy="777022"/>
          </a:xfrm>
          <a:prstGeom prst="roundRect">
            <a:avLst>
              <a:gd name="adj" fmla="val 24517"/>
            </a:avLst>
          </a:prstGeom>
          <a:solidFill>
            <a:schemeClr val="accent6"/>
          </a:solidFill>
          <a:ln w="12700">
            <a:miter lim="400000"/>
          </a:ln>
          <a:effectLst>
            <a:reflection blurRad="0" stA="50000" stPos="0" endA="0" endPos="40000" dist="0" dir="5400000" fadeDir="5400000" sx="100000" sy="-100000" kx="0" ky="0" algn="bl" rotWithShape="0"/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/send_email</a:t>
            </a:r>
          </a:p>
        </p:txBody>
      </p:sp>
      <p:sp>
        <p:nvSpPr>
          <p:cNvPr id="196" name="Get confirmation from the user for access request"/>
          <p:cNvSpPr/>
          <p:nvPr/>
        </p:nvSpPr>
        <p:spPr>
          <a:xfrm>
            <a:off x="10221516" y="7578142"/>
            <a:ext cx="5218514" cy="32077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lnTo>
                  <a:pt x="10800" y="216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solidFill>
            <a:schemeClr val="accent5"/>
          </a:solidFill>
          <a:ln w="12700">
            <a:miter lim="400000"/>
          </a:ln>
          <a:effectLst>
            <a:reflection blurRad="0" stA="50000" stPos="0" endA="0" endPos="40000" dist="0" dir="5400000" fadeDir="5400000" sx="100000" sy="-100000" kx="0" ky="0" algn="bl" rotWithShape="0"/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Get confirmation from the user for access request</a:t>
            </a:r>
          </a:p>
        </p:txBody>
      </p:sp>
      <p:sp>
        <p:nvSpPr>
          <p:cNvPr id="197" name="Line"/>
          <p:cNvSpPr/>
          <p:nvPr/>
        </p:nvSpPr>
        <p:spPr>
          <a:xfrm flipH="1">
            <a:off x="15376402" y="9182021"/>
            <a:ext cx="1152445" cy="1"/>
          </a:xfrm>
          <a:prstGeom prst="line">
            <a:avLst/>
          </a:prstGeom>
          <a:ln w="25400">
            <a:solidFill>
              <a:srgbClr val="FFFFFF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98" name="Line"/>
          <p:cNvSpPr/>
          <p:nvPr/>
        </p:nvSpPr>
        <p:spPr>
          <a:xfrm flipH="1">
            <a:off x="9290578" y="9182021"/>
            <a:ext cx="1037587" cy="1"/>
          </a:xfrm>
          <a:prstGeom prst="line">
            <a:avLst/>
          </a:prstGeom>
          <a:ln w="25400">
            <a:solidFill>
              <a:srgbClr val="FFFFFF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99" name="Response"/>
          <p:cNvSpPr/>
          <p:nvPr/>
        </p:nvSpPr>
        <p:spPr>
          <a:xfrm>
            <a:off x="21680399" y="6466746"/>
            <a:ext cx="2407694" cy="782508"/>
          </a:xfrm>
          <a:prstGeom prst="roundRect">
            <a:avLst>
              <a:gd name="adj" fmla="val 27675"/>
            </a:avLst>
          </a:prstGeom>
          <a:solidFill>
            <a:schemeClr val="accent4"/>
          </a:solidFill>
          <a:ln w="12700">
            <a:miter lim="400000"/>
          </a:ln>
          <a:effectLst>
            <a:reflection blurRad="0" stA="50000" stPos="0" endA="0" endPos="40000" dist="0" dir="5400000" fadeDir="5400000" sx="100000" sy="-100000" kx="0" ky="0" algn="bl" rotWithShape="0"/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Response</a:t>
            </a:r>
          </a:p>
        </p:txBody>
      </p:sp>
      <p:sp>
        <p:nvSpPr>
          <p:cNvPr id="200" name="Line"/>
          <p:cNvSpPr/>
          <p:nvPr/>
        </p:nvSpPr>
        <p:spPr>
          <a:xfrm>
            <a:off x="11403699" y="5775508"/>
            <a:ext cx="1445930" cy="1"/>
          </a:xfrm>
          <a:prstGeom prst="line">
            <a:avLst/>
          </a:prstGeom>
          <a:ln w="25400">
            <a:solidFill>
              <a:srgbClr val="FFFFFF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01" name="Line"/>
          <p:cNvSpPr/>
          <p:nvPr/>
        </p:nvSpPr>
        <p:spPr>
          <a:xfrm>
            <a:off x="3136416" y="11514252"/>
            <a:ext cx="19738626" cy="1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02" name="Yes"/>
          <p:cNvSpPr txBox="1"/>
          <p:nvPr/>
        </p:nvSpPr>
        <p:spPr>
          <a:xfrm>
            <a:off x="9290578" y="8442240"/>
            <a:ext cx="1037587" cy="777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>
            <a:lvl1pPr algn="ctr">
              <a:lnSpc>
                <a:spcPct val="80000"/>
              </a:lnSpc>
              <a:spcBef>
                <a:spcPts val="0"/>
              </a:spcBef>
              <a:defRPr spc="-59" sz="30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Yes</a:t>
            </a:r>
          </a:p>
        </p:txBody>
      </p:sp>
      <p:sp>
        <p:nvSpPr>
          <p:cNvPr id="203" name="Line"/>
          <p:cNvSpPr/>
          <p:nvPr/>
        </p:nvSpPr>
        <p:spPr>
          <a:xfrm>
            <a:off x="22884246" y="2946458"/>
            <a:ext cx="1" cy="3399873"/>
          </a:xfrm>
          <a:prstGeom prst="line">
            <a:avLst/>
          </a:prstGeom>
          <a:ln w="25400">
            <a:solidFill>
              <a:srgbClr val="FFFFFF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04" name="Line"/>
          <p:cNvSpPr/>
          <p:nvPr/>
        </p:nvSpPr>
        <p:spPr>
          <a:xfrm flipV="1">
            <a:off x="12830772" y="10701420"/>
            <a:ext cx="1" cy="782508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05" name="Check if user have role/gop access"/>
          <p:cNvSpPr/>
          <p:nvPr/>
        </p:nvSpPr>
        <p:spPr>
          <a:xfrm>
            <a:off x="947698" y="7679923"/>
            <a:ext cx="4377004" cy="30041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lnTo>
                  <a:pt x="10800" y="216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solidFill>
            <a:schemeClr val="accent5"/>
          </a:solidFill>
          <a:ln w="12700">
            <a:miter lim="400000"/>
          </a:ln>
          <a:effectLst>
            <a:reflection blurRad="0" stA="50000" stPos="0" endA="0" endPos="40000" dist="0" dir="5400000" fadeDir="5400000" sx="100000" sy="-100000" kx="0" ky="0" algn="bl" rotWithShape="0"/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Check if user have role/gop access</a:t>
            </a:r>
          </a:p>
        </p:txBody>
      </p:sp>
      <p:sp>
        <p:nvSpPr>
          <p:cNvPr id="206" name="Line"/>
          <p:cNvSpPr/>
          <p:nvPr/>
        </p:nvSpPr>
        <p:spPr>
          <a:xfrm>
            <a:off x="21399727" y="9182021"/>
            <a:ext cx="1445931" cy="1"/>
          </a:xfrm>
          <a:prstGeom prst="line">
            <a:avLst/>
          </a:prstGeom>
          <a:ln w="25400">
            <a:solidFill>
              <a:srgbClr val="FFFFFF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07" name="No"/>
          <p:cNvSpPr txBox="1"/>
          <p:nvPr/>
        </p:nvSpPr>
        <p:spPr>
          <a:xfrm>
            <a:off x="21462227" y="8536074"/>
            <a:ext cx="1037588" cy="777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>
            <a:lvl1pPr algn="ctr">
              <a:lnSpc>
                <a:spcPct val="80000"/>
              </a:lnSpc>
              <a:spcBef>
                <a:spcPts val="0"/>
              </a:spcBef>
              <a:defRPr spc="-59" sz="30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No</a:t>
            </a:r>
          </a:p>
        </p:txBody>
      </p:sp>
      <p:sp>
        <p:nvSpPr>
          <p:cNvPr id="208" name="Line"/>
          <p:cNvSpPr/>
          <p:nvPr/>
        </p:nvSpPr>
        <p:spPr>
          <a:xfrm flipH="1">
            <a:off x="5318105" y="9182021"/>
            <a:ext cx="1037587" cy="1"/>
          </a:xfrm>
          <a:prstGeom prst="line">
            <a:avLst/>
          </a:prstGeom>
          <a:ln w="25400">
            <a:solidFill>
              <a:srgbClr val="FFFFFF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09" name="Yes"/>
          <p:cNvSpPr txBox="1"/>
          <p:nvPr/>
        </p:nvSpPr>
        <p:spPr>
          <a:xfrm>
            <a:off x="3161730" y="10704164"/>
            <a:ext cx="1037588" cy="777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>
            <a:lvl1pPr algn="ctr">
              <a:lnSpc>
                <a:spcPct val="80000"/>
              </a:lnSpc>
              <a:spcBef>
                <a:spcPts val="0"/>
              </a:spcBef>
              <a:defRPr spc="-59" sz="30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Yes</a:t>
            </a:r>
          </a:p>
        </p:txBody>
      </p:sp>
      <p:sp>
        <p:nvSpPr>
          <p:cNvPr id="210" name="No"/>
          <p:cNvSpPr txBox="1"/>
          <p:nvPr/>
        </p:nvSpPr>
        <p:spPr>
          <a:xfrm>
            <a:off x="12683887" y="10704164"/>
            <a:ext cx="1037587" cy="777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>
            <a:lvl1pPr algn="ctr">
              <a:lnSpc>
                <a:spcPct val="80000"/>
              </a:lnSpc>
              <a:spcBef>
                <a:spcPts val="0"/>
              </a:spcBef>
              <a:defRPr spc="-59" sz="30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No</a:t>
            </a:r>
          </a:p>
        </p:txBody>
      </p:sp>
      <p:sp>
        <p:nvSpPr>
          <p:cNvPr id="211" name="Line"/>
          <p:cNvSpPr/>
          <p:nvPr/>
        </p:nvSpPr>
        <p:spPr>
          <a:xfrm>
            <a:off x="6011021" y="12592605"/>
            <a:ext cx="1057445" cy="1"/>
          </a:xfrm>
          <a:prstGeom prst="line">
            <a:avLst/>
          </a:prstGeom>
          <a:ln w="25400">
            <a:solidFill>
              <a:srgbClr val="FFFFFF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12" name="No"/>
          <p:cNvSpPr txBox="1"/>
          <p:nvPr/>
        </p:nvSpPr>
        <p:spPr>
          <a:xfrm>
            <a:off x="444722" y="10704164"/>
            <a:ext cx="1037587" cy="777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>
            <a:lvl1pPr algn="ctr">
              <a:lnSpc>
                <a:spcPct val="80000"/>
              </a:lnSpc>
              <a:spcBef>
                <a:spcPts val="0"/>
              </a:spcBef>
              <a:defRPr spc="-59" sz="30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No</a:t>
            </a:r>
          </a:p>
        </p:txBody>
      </p:sp>
      <p:sp>
        <p:nvSpPr>
          <p:cNvPr id="213" name="Line"/>
          <p:cNvSpPr/>
          <p:nvPr/>
        </p:nvSpPr>
        <p:spPr>
          <a:xfrm flipV="1">
            <a:off x="3136199" y="10701421"/>
            <a:ext cx="1" cy="782508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14" name="Line"/>
          <p:cNvSpPr/>
          <p:nvPr/>
        </p:nvSpPr>
        <p:spPr>
          <a:xfrm flipV="1">
            <a:off x="549786" y="9162483"/>
            <a:ext cx="1" cy="3461435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15" name="Line"/>
          <p:cNvSpPr/>
          <p:nvPr/>
        </p:nvSpPr>
        <p:spPr>
          <a:xfrm>
            <a:off x="548980" y="9182021"/>
            <a:ext cx="489826" cy="1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16" name="Get Manager Mail id"/>
          <p:cNvSpPr/>
          <p:nvPr/>
        </p:nvSpPr>
        <p:spPr>
          <a:xfrm>
            <a:off x="1609931" y="12229494"/>
            <a:ext cx="4377004" cy="777022"/>
          </a:xfrm>
          <a:prstGeom prst="roundRect">
            <a:avLst>
              <a:gd name="adj" fmla="val 24517"/>
            </a:avLst>
          </a:prstGeom>
          <a:solidFill>
            <a:schemeClr val="accent3"/>
          </a:solidFill>
          <a:ln w="12700">
            <a:miter lim="400000"/>
          </a:ln>
          <a:effectLst>
            <a:reflection blurRad="0" stA="50000" stPos="0" endA="0" endPos="40000" dist="0" dir="5400000" fadeDir="5400000" sx="100000" sy="-100000" kx="0" ky="0" algn="bl" rotWithShape="0"/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Get Manager Mail id</a:t>
            </a:r>
          </a:p>
        </p:txBody>
      </p:sp>
      <p:sp>
        <p:nvSpPr>
          <p:cNvPr id="217" name="Line"/>
          <p:cNvSpPr/>
          <p:nvPr/>
        </p:nvSpPr>
        <p:spPr>
          <a:xfrm>
            <a:off x="548258" y="12618005"/>
            <a:ext cx="1037587" cy="1"/>
          </a:xfrm>
          <a:prstGeom prst="line">
            <a:avLst/>
          </a:prstGeom>
          <a:ln w="25400">
            <a:solidFill>
              <a:srgbClr val="FFFFFF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18" name="Line"/>
          <p:cNvSpPr/>
          <p:nvPr/>
        </p:nvSpPr>
        <p:spPr>
          <a:xfrm>
            <a:off x="9886462" y="12640866"/>
            <a:ext cx="12988684" cy="1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19" name="/image_to_text"/>
          <p:cNvSpPr/>
          <p:nvPr/>
        </p:nvSpPr>
        <p:spPr>
          <a:xfrm>
            <a:off x="5792120" y="5386998"/>
            <a:ext cx="3277358" cy="777021"/>
          </a:xfrm>
          <a:prstGeom prst="roundRect">
            <a:avLst>
              <a:gd name="adj" fmla="val 23109"/>
            </a:avLst>
          </a:prstGeom>
          <a:solidFill>
            <a:schemeClr val="accent6"/>
          </a:solidFill>
          <a:ln w="12700">
            <a:miter lim="400000"/>
          </a:ln>
          <a:effectLst>
            <a:reflection blurRad="0" stA="50000" stPos="0" endA="0" endPos="40000" dist="0" dir="5400000" fadeDir="5400000" sx="100000" sy="-100000" kx="0" ky="0" algn="bl" rotWithShape="0"/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/image_to_text</a:t>
            </a:r>
          </a:p>
        </p:txBody>
      </p:sp>
      <p:sp>
        <p:nvSpPr>
          <p:cNvPr id="220" name="Line"/>
          <p:cNvSpPr/>
          <p:nvPr/>
        </p:nvSpPr>
        <p:spPr>
          <a:xfrm>
            <a:off x="9116366" y="5800908"/>
            <a:ext cx="777609" cy="1"/>
          </a:xfrm>
          <a:prstGeom prst="line">
            <a:avLst/>
          </a:prstGeom>
          <a:ln w="25400">
            <a:solidFill>
              <a:srgbClr val="FFFFFF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21" name="Line"/>
          <p:cNvSpPr/>
          <p:nvPr/>
        </p:nvSpPr>
        <p:spPr>
          <a:xfrm>
            <a:off x="4993767" y="5739948"/>
            <a:ext cx="777609" cy="1"/>
          </a:xfrm>
          <a:prstGeom prst="line">
            <a:avLst/>
          </a:prstGeom>
          <a:ln w="25400">
            <a:solidFill>
              <a:srgbClr val="FFFFFF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22" name="START"/>
          <p:cNvSpPr/>
          <p:nvPr/>
        </p:nvSpPr>
        <p:spPr>
          <a:xfrm>
            <a:off x="1299376" y="3585042"/>
            <a:ext cx="3673647" cy="777022"/>
          </a:xfrm>
          <a:prstGeom prst="roundRect">
            <a:avLst>
              <a:gd name="adj" fmla="val 24517"/>
            </a:avLst>
          </a:prstGeom>
          <a:solidFill>
            <a:schemeClr val="accent4"/>
          </a:solidFill>
          <a:ln w="12700">
            <a:miter lim="400000"/>
          </a:ln>
          <a:effectLst>
            <a:reflection blurRad="0" stA="50000" stPos="0" endA="0" endPos="40000" dist="0" dir="5400000" fadeDir="5400000" sx="100000" sy="-100000" kx="0" ky="0" algn="bl" rotWithShape="0"/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START</a:t>
            </a:r>
          </a:p>
        </p:txBody>
      </p:sp>
      <p:sp>
        <p:nvSpPr>
          <p:cNvPr id="223" name="Line"/>
          <p:cNvSpPr/>
          <p:nvPr/>
        </p:nvSpPr>
        <p:spPr>
          <a:xfrm flipV="1">
            <a:off x="3136199" y="2698799"/>
            <a:ext cx="1" cy="777022"/>
          </a:xfrm>
          <a:prstGeom prst="line">
            <a:avLst/>
          </a:prstGeom>
          <a:ln w="25400">
            <a:solidFill>
              <a:srgbClr val="FFFFFF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24" name="Line"/>
          <p:cNvSpPr/>
          <p:nvPr/>
        </p:nvSpPr>
        <p:spPr>
          <a:xfrm>
            <a:off x="3136199" y="4469759"/>
            <a:ext cx="1" cy="780074"/>
          </a:xfrm>
          <a:prstGeom prst="line">
            <a:avLst/>
          </a:prstGeom>
          <a:ln w="25400">
            <a:solidFill>
              <a:srgbClr val="FFFFFF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25" name="AI Chatbot - Work Flow"/>
          <p:cNvSpPr txBox="1"/>
          <p:nvPr/>
        </p:nvSpPr>
        <p:spPr>
          <a:xfrm>
            <a:off x="1187551" y="452123"/>
            <a:ext cx="6480354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AI Chatbot - Work Flow</a:t>
            </a:r>
          </a:p>
        </p:txBody>
      </p:sp>
      <p:sp>
        <p:nvSpPr>
          <p:cNvPr id="226" name="Yes"/>
          <p:cNvSpPr txBox="1"/>
          <p:nvPr/>
        </p:nvSpPr>
        <p:spPr>
          <a:xfrm>
            <a:off x="12681431" y="1490668"/>
            <a:ext cx="1037587" cy="777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>
            <a:lvl1pPr algn="ctr">
              <a:lnSpc>
                <a:spcPct val="80000"/>
              </a:lnSpc>
              <a:spcBef>
                <a:spcPts val="0"/>
              </a:spcBef>
              <a:defRPr spc="-59" sz="30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Yes</a:t>
            </a:r>
          </a:p>
        </p:txBody>
      </p:sp>
      <p:sp>
        <p:nvSpPr>
          <p:cNvPr id="227" name="Slide Number"/>
          <p:cNvSpPr txBox="1"/>
          <p:nvPr>
            <p:ph type="sldNum" sz="quarter" idx="4294967295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Read Approval Response from Google Form (Role CSV File)"/>
          <p:cNvSpPr/>
          <p:nvPr/>
        </p:nvSpPr>
        <p:spPr>
          <a:xfrm>
            <a:off x="1097911" y="2511602"/>
            <a:ext cx="5261560" cy="1745261"/>
          </a:xfrm>
          <a:prstGeom prst="roundRect">
            <a:avLst>
              <a:gd name="adj" fmla="val 12316"/>
            </a:avLst>
          </a:prstGeom>
          <a:solidFill>
            <a:schemeClr val="accent3"/>
          </a:solidFill>
          <a:ln w="12700">
            <a:miter lim="400000"/>
          </a:ln>
          <a:effectLst>
            <a:reflection blurRad="0" stA="50000" stPos="0" endA="0" endPos="40000" dist="0" dir="5400000" fadeDir="5400000" sx="100000" sy="-100000" kx="0" ky="0" algn="bl" rotWithShape="0"/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Read Approval Response from Google Form (Role CSV File)</a:t>
            </a:r>
          </a:p>
        </p:txBody>
      </p:sp>
      <p:sp>
        <p:nvSpPr>
          <p:cNvPr id="230" name="If Role Approval is Yes then"/>
          <p:cNvSpPr/>
          <p:nvPr/>
        </p:nvSpPr>
        <p:spPr>
          <a:xfrm>
            <a:off x="7422730" y="1601105"/>
            <a:ext cx="3995374" cy="35662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lnTo>
                  <a:pt x="10800" y="216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solidFill>
            <a:schemeClr val="accent5"/>
          </a:solidFill>
          <a:ln w="12700">
            <a:miter lim="400000"/>
          </a:ln>
          <a:effectLst>
            <a:reflection blurRad="0" stA="50000" stPos="0" endA="0" endPos="40000" dist="0" dir="5400000" fadeDir="5400000" sx="100000" sy="-100000" kx="0" ky="0" algn="bl" rotWithShape="0"/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If Role Approval is Yes then</a:t>
            </a:r>
          </a:p>
        </p:txBody>
      </p:sp>
      <p:sp>
        <p:nvSpPr>
          <p:cNvPr id="231" name="Line"/>
          <p:cNvSpPr/>
          <p:nvPr/>
        </p:nvSpPr>
        <p:spPr>
          <a:xfrm>
            <a:off x="6398506" y="3384232"/>
            <a:ext cx="1037587" cy="1"/>
          </a:xfrm>
          <a:prstGeom prst="line">
            <a:avLst/>
          </a:prstGeom>
          <a:ln w="25400">
            <a:solidFill>
              <a:srgbClr val="FFFFFF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32" name="/storerole"/>
          <p:cNvSpPr/>
          <p:nvPr/>
        </p:nvSpPr>
        <p:spPr>
          <a:xfrm>
            <a:off x="12965896" y="2984404"/>
            <a:ext cx="2334570" cy="799657"/>
          </a:xfrm>
          <a:prstGeom prst="roundRect">
            <a:avLst>
              <a:gd name="adj" fmla="val 24517"/>
            </a:avLst>
          </a:prstGeom>
          <a:solidFill>
            <a:schemeClr val="accent6"/>
          </a:solidFill>
          <a:ln w="12700">
            <a:miter lim="400000"/>
          </a:ln>
          <a:effectLst>
            <a:reflection blurRad="0" stA="50000" stPos="0" endA="0" endPos="40000" dist="0" dir="5400000" fadeDir="5400000" sx="100000" sy="-100000" kx="0" ky="0" algn="bl" rotWithShape="0"/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/storerole</a:t>
            </a:r>
          </a:p>
        </p:txBody>
      </p:sp>
      <p:sp>
        <p:nvSpPr>
          <p:cNvPr id="233" name="Role access will be given to user and stores information in Google Cloud PostgreSQL DB"/>
          <p:cNvSpPr/>
          <p:nvPr/>
        </p:nvSpPr>
        <p:spPr>
          <a:xfrm>
            <a:off x="16848258" y="2628483"/>
            <a:ext cx="6378783" cy="1619941"/>
          </a:xfrm>
          <a:prstGeom prst="roundRect">
            <a:avLst>
              <a:gd name="adj" fmla="val 25823"/>
            </a:avLst>
          </a:prstGeom>
          <a:solidFill>
            <a:schemeClr val="accent1">
              <a:lumOff val="13575"/>
            </a:schemeClr>
          </a:solidFill>
          <a:ln w="12700">
            <a:miter lim="400000"/>
          </a:ln>
          <a:effectLst>
            <a:reflection blurRad="0" stA="50000" stPos="0" endA="0" endPos="40000" dist="0" dir="5400000" fadeDir="5400000" sx="100000" sy="-100000" kx="0" ky="0" algn="bl" rotWithShape="0"/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Role access will be given to user and stores information in Google Cloud PostgreSQL DB</a:t>
            </a:r>
          </a:p>
        </p:txBody>
      </p:sp>
      <p:sp>
        <p:nvSpPr>
          <p:cNvPr id="234" name="Role/GOP Approval Request - Work Flow"/>
          <p:cNvSpPr txBox="1"/>
          <p:nvPr/>
        </p:nvSpPr>
        <p:spPr>
          <a:xfrm>
            <a:off x="1187551" y="452123"/>
            <a:ext cx="11346181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Role/GOP Approval Request - Work Flow</a:t>
            </a:r>
          </a:p>
        </p:txBody>
      </p:sp>
      <p:sp>
        <p:nvSpPr>
          <p:cNvPr id="235" name="Yes"/>
          <p:cNvSpPr txBox="1"/>
          <p:nvPr/>
        </p:nvSpPr>
        <p:spPr>
          <a:xfrm>
            <a:off x="11673206" y="2639100"/>
            <a:ext cx="1037588" cy="777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>
            <a:lvl1pPr algn="ctr">
              <a:lnSpc>
                <a:spcPct val="80000"/>
              </a:lnSpc>
              <a:spcBef>
                <a:spcPts val="0"/>
              </a:spcBef>
              <a:defRPr spc="-59" sz="30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Yes</a:t>
            </a:r>
          </a:p>
        </p:txBody>
      </p:sp>
      <p:sp>
        <p:nvSpPr>
          <p:cNvPr id="236" name="Slide Number"/>
          <p:cNvSpPr txBox="1"/>
          <p:nvPr>
            <p:ph type="sldNum" sz="quarter" idx="4294967295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37" name="Line"/>
          <p:cNvSpPr/>
          <p:nvPr/>
        </p:nvSpPr>
        <p:spPr>
          <a:xfrm>
            <a:off x="11412022" y="3384232"/>
            <a:ext cx="1559957" cy="1"/>
          </a:xfrm>
          <a:prstGeom prst="line">
            <a:avLst/>
          </a:prstGeom>
          <a:ln w="25400">
            <a:solidFill>
              <a:srgbClr val="FFFFFF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38" name="Read Approval Response from Google Form (GOP CSV File)"/>
          <p:cNvSpPr/>
          <p:nvPr/>
        </p:nvSpPr>
        <p:spPr>
          <a:xfrm>
            <a:off x="1070408" y="9230978"/>
            <a:ext cx="5316566" cy="1745261"/>
          </a:xfrm>
          <a:prstGeom prst="roundRect">
            <a:avLst>
              <a:gd name="adj" fmla="val 12343"/>
            </a:avLst>
          </a:prstGeom>
          <a:solidFill>
            <a:schemeClr val="accent3"/>
          </a:solidFill>
          <a:ln w="12700">
            <a:miter lim="400000"/>
          </a:ln>
          <a:effectLst>
            <a:reflection blurRad="0" stA="50000" stPos="0" endA="0" endPos="40000" dist="0" dir="5400000" fadeDir="5400000" sx="100000" sy="-100000" kx="0" ky="0" algn="bl" rotWithShape="0"/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Read Approval Response from Google Form (GOP CSV File)</a:t>
            </a:r>
          </a:p>
        </p:txBody>
      </p:sp>
      <p:sp>
        <p:nvSpPr>
          <p:cNvPr id="239" name="If GOP Approval is Yes then"/>
          <p:cNvSpPr/>
          <p:nvPr/>
        </p:nvSpPr>
        <p:spPr>
          <a:xfrm>
            <a:off x="7388552" y="8320482"/>
            <a:ext cx="3995374" cy="35662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lnTo>
                  <a:pt x="10800" y="216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solidFill>
            <a:schemeClr val="accent5"/>
          </a:solidFill>
          <a:ln w="12700">
            <a:miter lim="400000"/>
          </a:ln>
          <a:effectLst>
            <a:reflection blurRad="0" stA="50000" stPos="0" endA="0" endPos="40000" dist="0" dir="5400000" fadeDir="5400000" sx="100000" sy="-100000" kx="0" ky="0" algn="bl" rotWithShape="0"/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If GOP Approval is Yes then</a:t>
            </a:r>
          </a:p>
        </p:txBody>
      </p:sp>
      <p:sp>
        <p:nvSpPr>
          <p:cNvPr id="240" name="Line"/>
          <p:cNvSpPr/>
          <p:nvPr/>
        </p:nvSpPr>
        <p:spPr>
          <a:xfrm>
            <a:off x="6364327" y="10103608"/>
            <a:ext cx="1037588" cy="1"/>
          </a:xfrm>
          <a:prstGeom prst="line">
            <a:avLst/>
          </a:prstGeom>
          <a:ln w="25400">
            <a:solidFill>
              <a:srgbClr val="FFFFFF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41" name="Yes"/>
          <p:cNvSpPr txBox="1"/>
          <p:nvPr/>
        </p:nvSpPr>
        <p:spPr>
          <a:xfrm>
            <a:off x="11673206" y="9374417"/>
            <a:ext cx="1037588" cy="777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>
            <a:lvl1pPr algn="ctr">
              <a:lnSpc>
                <a:spcPct val="80000"/>
              </a:lnSpc>
              <a:spcBef>
                <a:spcPts val="0"/>
              </a:spcBef>
              <a:defRPr spc="-59" sz="30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Yes</a:t>
            </a:r>
          </a:p>
        </p:txBody>
      </p:sp>
      <p:sp>
        <p:nvSpPr>
          <p:cNvPr id="242" name="Line"/>
          <p:cNvSpPr/>
          <p:nvPr/>
        </p:nvSpPr>
        <p:spPr>
          <a:xfrm>
            <a:off x="11412022" y="10119549"/>
            <a:ext cx="1559957" cy="1"/>
          </a:xfrm>
          <a:prstGeom prst="line">
            <a:avLst/>
          </a:prstGeom>
          <a:ln w="25400">
            <a:solidFill>
              <a:srgbClr val="FFFFFF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43" name="/storegop"/>
          <p:cNvSpPr/>
          <p:nvPr/>
        </p:nvSpPr>
        <p:spPr>
          <a:xfrm>
            <a:off x="13000074" y="9731039"/>
            <a:ext cx="2334571" cy="777021"/>
          </a:xfrm>
          <a:prstGeom prst="roundRect">
            <a:avLst>
              <a:gd name="adj" fmla="val 25231"/>
            </a:avLst>
          </a:prstGeom>
          <a:solidFill>
            <a:schemeClr val="accent6"/>
          </a:solidFill>
          <a:ln w="12700">
            <a:miter lim="400000"/>
          </a:ln>
          <a:effectLst>
            <a:reflection blurRad="0" stA="50000" stPos="0" endA="0" endPos="40000" dist="0" dir="5400000" fadeDir="5400000" sx="100000" sy="-100000" kx="0" ky="0" algn="bl" rotWithShape="0"/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/storegop</a:t>
            </a:r>
          </a:p>
        </p:txBody>
      </p:sp>
      <p:sp>
        <p:nvSpPr>
          <p:cNvPr id="244" name="Line"/>
          <p:cNvSpPr/>
          <p:nvPr/>
        </p:nvSpPr>
        <p:spPr>
          <a:xfrm>
            <a:off x="15303041" y="3384232"/>
            <a:ext cx="1559957" cy="1"/>
          </a:xfrm>
          <a:prstGeom prst="line">
            <a:avLst/>
          </a:prstGeom>
          <a:ln w="25400">
            <a:solidFill>
              <a:srgbClr val="FFFFFF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45" name="GOP access will be given to user and stores information in Google Cloud PostgreSQL DB"/>
          <p:cNvSpPr/>
          <p:nvPr/>
        </p:nvSpPr>
        <p:spPr>
          <a:xfrm>
            <a:off x="16848258" y="9347859"/>
            <a:ext cx="6378783" cy="1903062"/>
          </a:xfrm>
          <a:prstGeom prst="roundRect">
            <a:avLst>
              <a:gd name="adj" fmla="val 21981"/>
            </a:avLst>
          </a:prstGeom>
          <a:solidFill>
            <a:schemeClr val="accent1">
              <a:lumOff val="13575"/>
            </a:schemeClr>
          </a:solidFill>
          <a:ln w="12700">
            <a:miter lim="400000"/>
          </a:ln>
          <a:effectLst>
            <a:reflection blurRad="0" stA="50000" stPos="0" endA="0" endPos="40000" dist="0" dir="5400000" fadeDir="5400000" sx="100000" sy="-100000" kx="0" ky="0" algn="bl" rotWithShape="0"/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GOP access will be given to user and stores information in Google Cloud PostgreSQL DB</a:t>
            </a:r>
          </a:p>
        </p:txBody>
      </p:sp>
      <p:sp>
        <p:nvSpPr>
          <p:cNvPr id="246" name="Line"/>
          <p:cNvSpPr/>
          <p:nvPr/>
        </p:nvSpPr>
        <p:spPr>
          <a:xfrm>
            <a:off x="15307071" y="10119549"/>
            <a:ext cx="1551899" cy="1"/>
          </a:xfrm>
          <a:prstGeom prst="line">
            <a:avLst/>
          </a:prstGeom>
          <a:ln w="25400">
            <a:solidFill>
              <a:srgbClr val="FFFFFF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47" name="Line"/>
          <p:cNvSpPr/>
          <p:nvPr/>
        </p:nvSpPr>
        <p:spPr>
          <a:xfrm flipV="1">
            <a:off x="9386239" y="7170694"/>
            <a:ext cx="1" cy="1202792"/>
          </a:xfrm>
          <a:prstGeom prst="line">
            <a:avLst/>
          </a:prstGeom>
          <a:ln w="25400">
            <a:solidFill>
              <a:srgbClr val="FFFFFF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48" name="Line"/>
          <p:cNvSpPr/>
          <p:nvPr/>
        </p:nvSpPr>
        <p:spPr>
          <a:xfrm>
            <a:off x="9420417" y="5116476"/>
            <a:ext cx="1" cy="1202792"/>
          </a:xfrm>
          <a:prstGeom prst="line">
            <a:avLst/>
          </a:prstGeom>
          <a:ln w="25400">
            <a:solidFill>
              <a:srgbClr val="FFFFFF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49" name="No"/>
          <p:cNvSpPr txBox="1"/>
          <p:nvPr/>
        </p:nvSpPr>
        <p:spPr>
          <a:xfrm>
            <a:off x="9359504" y="5132182"/>
            <a:ext cx="1037587" cy="777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>
            <a:lvl1pPr algn="ctr">
              <a:lnSpc>
                <a:spcPct val="80000"/>
              </a:lnSpc>
              <a:spcBef>
                <a:spcPts val="0"/>
              </a:spcBef>
              <a:defRPr spc="-59" sz="30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No</a:t>
            </a:r>
          </a:p>
        </p:txBody>
      </p:sp>
      <p:sp>
        <p:nvSpPr>
          <p:cNvPr id="250" name="No"/>
          <p:cNvSpPr txBox="1"/>
          <p:nvPr/>
        </p:nvSpPr>
        <p:spPr>
          <a:xfrm>
            <a:off x="9359504" y="7517282"/>
            <a:ext cx="1037587" cy="777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>
            <a:lvl1pPr algn="ctr">
              <a:lnSpc>
                <a:spcPct val="80000"/>
              </a:lnSpc>
              <a:spcBef>
                <a:spcPts val="0"/>
              </a:spcBef>
              <a:defRPr spc="-59" sz="30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No</a:t>
            </a:r>
          </a:p>
        </p:txBody>
      </p:sp>
      <p:sp>
        <p:nvSpPr>
          <p:cNvPr id="251" name="We will wait for the Approvals"/>
          <p:cNvSpPr/>
          <p:nvPr/>
        </p:nvSpPr>
        <p:spPr>
          <a:xfrm>
            <a:off x="5958587" y="6279582"/>
            <a:ext cx="6855303" cy="867320"/>
          </a:xfrm>
          <a:prstGeom prst="roundRect">
            <a:avLst>
              <a:gd name="adj" fmla="val 48230"/>
            </a:avLst>
          </a:prstGeom>
          <a:solidFill>
            <a:schemeClr val="accent1">
              <a:lumOff val="13575"/>
            </a:schemeClr>
          </a:solidFill>
          <a:ln w="12700">
            <a:miter lim="400000"/>
          </a:ln>
          <a:effectLst>
            <a:reflection blurRad="0" stA="50000" stPos="0" endA="0" endPos="40000" dist="0" dir="5400000" fadeDir="5400000" sx="100000" sy="-100000" kx="0" ky="0" algn="bl" rotWithShape="0"/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We will wait for the Approvals</a:t>
            </a:r>
          </a:p>
        </p:txBody>
      </p:sp>
      <p:sp>
        <p:nvSpPr>
          <p:cNvPr id="252" name="After granting access we will exclude the tickets in next batch"/>
          <p:cNvSpPr/>
          <p:nvPr/>
        </p:nvSpPr>
        <p:spPr>
          <a:xfrm>
            <a:off x="17278295" y="5985369"/>
            <a:ext cx="5261561" cy="1745262"/>
          </a:xfrm>
          <a:prstGeom prst="roundRect">
            <a:avLst>
              <a:gd name="adj" fmla="val 12316"/>
            </a:avLst>
          </a:prstGeom>
          <a:solidFill>
            <a:schemeClr val="accent3"/>
          </a:solidFill>
          <a:ln w="12700">
            <a:miter lim="400000"/>
          </a:ln>
          <a:effectLst>
            <a:reflection blurRad="0" stA="50000" stPos="0" endA="0" endPos="40000" dist="0" dir="5400000" fadeDir="5400000" sx="100000" sy="-100000" kx="0" ky="0" algn="bl" rotWithShape="0"/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After granting access we will exclude the tickets in next batch</a:t>
            </a:r>
          </a:p>
        </p:txBody>
      </p:sp>
      <p:sp>
        <p:nvSpPr>
          <p:cNvPr id="253" name="Line"/>
          <p:cNvSpPr/>
          <p:nvPr/>
        </p:nvSpPr>
        <p:spPr>
          <a:xfrm>
            <a:off x="19909075" y="4391532"/>
            <a:ext cx="1" cy="1576049"/>
          </a:xfrm>
          <a:prstGeom prst="line">
            <a:avLst/>
          </a:prstGeom>
          <a:ln w="25400">
            <a:solidFill>
              <a:srgbClr val="FFFFFF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54" name="Line"/>
          <p:cNvSpPr/>
          <p:nvPr/>
        </p:nvSpPr>
        <p:spPr>
          <a:xfrm flipV="1">
            <a:off x="19909075" y="7751220"/>
            <a:ext cx="1" cy="1576049"/>
          </a:xfrm>
          <a:prstGeom prst="line">
            <a:avLst/>
          </a:prstGeom>
          <a:ln w="25400">
            <a:solidFill>
              <a:srgbClr val="FFFFFF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32_DynamicDark">
  <a:themeElements>
    <a:clrScheme name="32_DynamicDark">
      <a:dk1>
        <a:srgbClr val="BE00FF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32_DynamicDark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2_DynamicDar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2_DynamicDark">
  <a:themeElements>
    <a:clrScheme name="32_DynamicDar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32_DynamicDark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2_DynamicDar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